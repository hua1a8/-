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大家好，欢迎来到这次的Office入门教程。这份教程是专门为刚入职，第一次接触办公软件的同事们准备的，希望能帮助大家快速上手。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我们来看Word。这是我们最常用的文字处理工具。大家需要掌握的第一个技能就是如何新建、打开和保存文档。记住，随时按Ctrl+S保存是个好习惯。另外，复制、粘贴和撤销/重做这几个快捷键一定要熟练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写好文字后，我们还需要让它看起来更美观。在“开始”这个选项卡里，你可以找到所有格式设置的工具。比如，把标题加粗放大，给重点内容改个颜色，或者用项目符号来组织你的思路。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Word不仅能处理文字，还能插入表格和图片。比如，你可以用表格来整理数据，用图片来辅助说明。插入后，选中它们，拖动就能调整位置和大小，非常方便。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接下来是Excel，这是我们处理数据的利器。大家可以把它想象成一个巨大的电子表格。每个Excel文件是一个工作簿，里面可以有多个工作表。我们直接在格子里输入数据，拖动鼠标就能选中很多格子。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xcel最强大的功能是计算。要进行计算，我们需要输入公式。记住，所有公式都要以一个等号开头。比如，想算A1加B1，就输入=A1+B1。对于复杂的计算，我们可以用函数，比如SUM函数用来求和，AVERAGE函数用来算平均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有了数据，我们常常需要对它进行分析。比如，按数值大小排序。更直观的方式是制作图表。选中你的数据，然后在“插入”选项卡里选择一个喜欢的图表类型，比如柱状图，Excel就会帮你自动生成。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我们来学习PPT，也就是PowerPoint。它是用来制作演示文稿的工具。新建一个空白演示文稿后，我们可以为每一页幻灯片选择不同的版式，比如有的只放标题，有的既有标题又有内容。在左边的缩略图上，右键可以添加或删除幻灯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为了让PPT更专业、更生动，我们可以用这几个技巧。母版可以帮你统一整个PPT的风格。动画可以让页面上的元素动起来，吸引注意力。切换效果则是控制幻灯片翻页时的动画。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和Word一样，PPT也可以插入图片、音乐和视频。做好PPT后，按F5键就可以开始放映了。在放映时，点击鼠标翻页，按ESC键退出。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好了，我们来简单回顾一下。Word主要用来写东西和排版；Excel用来算数据和做图表；PPT则是用来做演示的。希望大家记住，最重要的还是多练习，只有自己动手做了，才能真正掌握。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我的介绍就到这里，谢谢大家的观看！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12700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Office 办公软件入门教程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4376" flipH="false" flipV="false">
            <a:off x="5461032" y="227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472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609600" y="3772748"/>
            <a:ext cx="10972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给新手的快速上手指南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01 Word 模块 - 文档创建与编辑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43000" y="165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新建/打开/保存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032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学会如何创建新文档，打开已有文档，并随时保存你的工作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92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复制/粘贴/剪切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302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最基础的文本操作，能极大提高你的文档编辑效率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419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撤销 (Ctrl+Z) / 重做 (Ctrl+Y)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4572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操作失误不用怕，这两个快捷键可以撤销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8145" flipH="false" flipV="false">
            <a:off x="4254500" y="3486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255998" y="50927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B9EA2"/>
                </a:solidFill>
                <a:latin typeface="微软雅黑"/>
                <a:ea typeface="微软雅黑"/>
                <a:cs typeface="微软雅黑"/>
                <a:sym typeface="微软雅黑"/>
              </a:rPr>
              <a:t>Word 软件界面示例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7818098" y="1206500"/>
            <a:ext cx="1955800" cy="3886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Word 模块 - 格式设置与排版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43000" y="165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字体设置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032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调整文字的大小、颜色，以及加粗、倾斜，让重点更突出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304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段落对齐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429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设置文本的左对齐、居中或右对齐，让版面更整齐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4445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项目符号和编号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4826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用于制作清单或步骤列表，非常实用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5207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B9EA2"/>
                </a:solidFill>
                <a:latin typeface="微软雅黑"/>
                <a:ea typeface="微软雅黑"/>
                <a:cs typeface="微软雅黑"/>
                <a:sym typeface="微软雅黑"/>
              </a:rPr>
              <a:t>Word“开始”选项卡格式工具区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096000" y="2590800"/>
            <a:ext cx="5637906" cy="151449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Word 模块 - 表格与图文混排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43000" y="165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插入表格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032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在“插入”选项卡中找到表格按钮，选择行数和列数即可快速创建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304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插入图片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429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同样在“插入”选项卡，点击“图片”可以插入本地图片，让文档更生动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4445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调整图片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4826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选中图片后，可以拖动边角来改变大小，或拖动图片来调整位置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9257" flipH="false" flipV="false">
            <a:off x="4064000" y="3549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470657" y="6079446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B9EA2"/>
                </a:solidFill>
                <a:latin typeface="微软雅黑"/>
                <a:ea typeface="微软雅黑"/>
                <a:cs typeface="微软雅黑"/>
                <a:sym typeface="微软雅黑"/>
              </a:rPr>
              <a:t>图：Word中表格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723915" y="1203961"/>
            <a:ext cx="4355338" cy="46875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02 Excel 模块 - 表格创建与数据输入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43000" y="167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工作簿与工作表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0574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一个Excel文件叫“工作簿”，里面可以包含多个“工作表”（底部标签）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3073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输入数据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4544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直接点击单元格，就可以输入文字或数字了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4470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选择区域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48514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拖动鼠标可以选中一片单元格区域，方便进行批量操作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9257" flipH="false" flipV="false">
            <a:off x="4064000" y="3549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30" r="30" t="0" b="0"/>
          <a:stretch>
            <a:fillRect/>
          </a:stretch>
        </p:blipFill>
        <p:spPr>
          <a:xfrm rot="0" flipH="false" flipV="false">
            <a:off x="6477000" y="1651000"/>
            <a:ext cx="5080000" cy="4064000"/>
          </a:xfrm>
          <a:prstGeom prst="rect">
            <a:avLst/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Excel 模块 - 公式与常用函数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43000" y="16764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公式输入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133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所有公式都以</a:t>
            </a:r>
            <a:r>
              <a:rPr lang="en-US" b="true" i="false" strike="noStrike" u="none" sz="14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等号 (=)</a:t>
            </a:r>
            <a:r>
              <a:rPr lang="en-US" b="false" i="false" strike="noStrike" u="none" sz="14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开头。例如，`=A1+B1` 就是计算A1和B1两个单元格的和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30734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常用函数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24000" y="35814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求和 (SUM)</a:t>
            </a:r>
            <a:r>
              <a:rPr lang="en-US" b="false" i="false" strike="noStrike" u="none" sz="14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：`=SUM(A1:A5)` 计算A1到A5所有单元格的总和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43434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平均值 (AVERAGE)</a:t>
            </a:r>
            <a:r>
              <a:rPr lang="en-US" b="false" i="false" strike="noStrike" u="none" sz="14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：`=AVERAGE(A1:A5)` 计算A1到A5的平均值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87722" flipH="false" flipV="false">
            <a:off x="4318000" y="3295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193" b="193"/>
          <a:stretch>
            <a:fillRect/>
          </a:stretch>
        </p:blipFill>
        <p:spPr>
          <a:xfrm rot="0" flipH="false" flipV="false">
            <a:off x="6477000" y="1778000"/>
            <a:ext cx="5080000" cy="2679700"/>
          </a:xfrm>
          <a:prstGeom prst="rect">
            <a:avLst/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6477000" y="4572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图：公式编辑栏示例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" y="5334000"/>
            <a:ext cx="10922000" cy="508000"/>
          </a:xfrm>
          <a:prstGeom prst="roundRect">
            <a:avLst>
              <a:gd name="adj" fmla="val 200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掌握公式与函数是 Excel 数据分析的基础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Excel 模块 - 数据排序与图表制作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43000" y="1587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数据排序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032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选中数据区域，在“数据”选项卡中点击“升序”或“降序”按钮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921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插入图表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87500" y="3441700"/>
            <a:ext cx="431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选中要制作图表的数据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87500" y="4076700"/>
            <a:ext cx="431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在“插入”选项卡中选择图表类型，如“柱状图”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87500" y="4711700"/>
            <a:ext cx="431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Excel会自动生成图表，你可以修改标题和图例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9422" flipH="false" flipV="false">
            <a:off x="4032250" y="364491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r="0" t="44" b="44"/>
          <a:stretch>
            <a:fillRect/>
          </a:stretch>
        </p:blipFill>
        <p:spPr>
          <a:xfrm rot="0" flipH="false" flipV="false">
            <a:off x="6477000" y="1905000"/>
            <a:ext cx="5080000" cy="3124200"/>
          </a:xfrm>
          <a:prstGeom prst="rect">
            <a:avLst/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2" id="12"/>
          <p:cNvSpPr/>
          <p:nvPr/>
        </p:nvSpPr>
        <p:spPr>
          <a:xfrm rot="0" flipH="false" flipV="false">
            <a:off x="6477000" y="5207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B9EA2"/>
                </a:solidFill>
                <a:latin typeface="微软雅黑"/>
                <a:ea typeface="微软雅黑"/>
                <a:cs typeface="微软雅黑"/>
                <a:sym typeface="微软雅黑"/>
              </a:rPr>
              <a:t>图：Excel 自动生成的柱状图示例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03 PPT 模块 - 幻灯片创建与版式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43000" y="167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新建演示文稿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057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启动PowerPoint，选择“空白演示文稿”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94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选择版式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327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右键点击幻灯片，选择“版式”，快速应用预设布局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421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添加/删除幻灯片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4597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在左侧缩略图面板上右键，可以添加或删除幻灯片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7722" flipH="false" flipV="false">
            <a:off x="4318000" y="3422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6350000" y="1651000"/>
            <a:ext cx="5207000" cy="3111500"/>
          </a:xfrm>
          <a:prstGeom prst="rect">
            <a:avLst/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2" id="12"/>
          <p:cNvSpPr/>
          <p:nvPr/>
        </p:nvSpPr>
        <p:spPr>
          <a:xfrm rot="0" flipH="false" flipV="false">
            <a:off x="6350000" y="4889500"/>
            <a:ext cx="520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B9EA2"/>
                </a:solidFill>
                <a:latin typeface="微软雅黑"/>
                <a:ea typeface="微软雅黑"/>
                <a:cs typeface="微软雅黑"/>
                <a:sym typeface="微软雅黑"/>
              </a:rPr>
              <a:t>PowerPoint 软件界面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PPT 模块 - 母版、动画与切换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43000" y="167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母版设置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0574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在“视图”选项卡中找到“幻灯片母版”，可以统一设置所有幻灯片的背景、字体和Logo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3073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添加动画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4544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选中一个对象，在“动画”选项卡中选择一个动画效果，让它动起来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4470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幻灯片切换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48514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在“切换”选项卡中，可以设置幻灯片之间切换时的动画效果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9582" flipH="false" flipV="false">
            <a:off x="4000500" y="3613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r="0" t="0" b="20350"/>
          <a:stretch>
            <a:fillRect/>
          </a:stretch>
        </p:blipFill>
        <p:spPr>
          <a:xfrm rot="0" flipH="false" flipV="false">
            <a:off x="6392942" y="1828800"/>
            <a:ext cx="5448300" cy="3510073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PPT 模块 - 多媒体与放映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43000" y="167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插入多媒体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03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在“插入”选项卡中，可插入图片、音频和视频，让演示更丰富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8829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开始放映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238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按</a:t>
            </a:r>
            <a:r>
              <a:rPr lang="en-US" b="true" i="false" strike="noStrike" u="none" sz="1400">
                <a:solidFill>
                  <a:srgbClr val="4472C4"/>
                </a:solidFill>
                <a:latin typeface="微软雅黑"/>
                <a:ea typeface="微软雅黑"/>
                <a:cs typeface="微软雅黑"/>
                <a:sym typeface="微软雅黑"/>
              </a:rPr>
              <a:t>F5</a:t>
            </a: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从首页开始，按</a:t>
            </a:r>
            <a:r>
              <a:rPr lang="en-US" b="true" i="false" strike="noStrike" u="none" sz="1400">
                <a:solidFill>
                  <a:srgbClr val="4472C4"/>
                </a:solidFill>
                <a:latin typeface="微软雅黑"/>
                <a:ea typeface="微软雅黑"/>
                <a:cs typeface="微软雅黑"/>
                <a:sym typeface="微软雅黑"/>
              </a:rPr>
              <a:t>Shift+F5</a:t>
            </a: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从当前页开始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4089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放映控制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473200" y="45085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点击鼠标或按空格键翻到下一页。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73200" y="49530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按</a:t>
            </a:r>
            <a:r>
              <a:rPr lang="en-US" b="true" i="false" strike="noStrike" u="none" sz="1400">
                <a:solidFill>
                  <a:srgbClr val="4472C4"/>
                </a:solidFill>
                <a:latin typeface="微软雅黑"/>
                <a:ea typeface="微软雅黑"/>
                <a:cs typeface="微软雅黑"/>
                <a:sym typeface="微软雅黑"/>
              </a:rPr>
              <a:t>ESC键</a:t>
            </a:r>
            <a:r>
              <a:rPr lang="en-US" b="false" i="false" strike="noStrike" u="none" sz="14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可以随时退出放映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88145" flipH="false" flipV="false">
            <a:off x="4254500" y="3486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477000" y="1905000"/>
            <a:ext cx="5080000" cy="2857500"/>
          </a:xfrm>
          <a:prstGeom prst="rect">
            <a:avLst/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3" id="13"/>
          <p:cNvSpPr/>
          <p:nvPr/>
        </p:nvSpPr>
        <p:spPr>
          <a:xfrm rot="0" flipH="false" flipV="false">
            <a:off x="6477000" y="48895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B9EA2"/>
                </a:solidFill>
                <a:latin typeface="微软雅黑"/>
                <a:ea typeface="微软雅黑"/>
                <a:cs typeface="微软雅黑"/>
                <a:sym typeface="微软雅黑"/>
              </a:rPr>
              <a:t>幻灯片放映状态示例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总结与回顾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295400" y="1676400"/>
            <a:ext cx="990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Word：</a:t>
            </a:r>
            <a:r>
              <a:rPr lang="en-US" b="fals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核心是 “写” 和 “排”，用于处理和排版文字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95400" y="2565400"/>
            <a:ext cx="990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Excel：</a:t>
            </a:r>
            <a:r>
              <a:rPr lang="en-US" b="fals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核心是 “算” 和 “看”，用于计算数据和制作图表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95400" y="3454400"/>
            <a:ext cx="990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PPT：</a:t>
            </a:r>
            <a:r>
              <a:rPr lang="en-US" b="fals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核心是 “讲” 和 “演”，用于制作演示文稿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997" flipH="false" flipV="false">
            <a:off x="635004" y="4311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295400" y="4724400"/>
            <a:ext cx="990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最重要的是：</a:t>
            </a:r>
            <a:r>
              <a:rPr lang="en-US" b="fals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多动手，多练习，熟能生巧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304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谢谢观看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