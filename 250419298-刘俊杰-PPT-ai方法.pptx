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notesSlides/notesSlide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2.xml" Type="http://schemas.openxmlformats.org/officeDocument/2006/relationships/notesSlide"/><Relationship Id="rId41" Target="notesSlides/notesSlide3.xml" Type="http://schemas.openxmlformats.org/officeDocument/2006/relationships/notesSlide"/><Relationship Id="rId42" Target="notesSlides/notesSlide4.xml" Type="http://schemas.openxmlformats.org/officeDocument/2006/relationships/notesSlide"/><Relationship Id="rId43" Target="notesSlides/notesSlide5.xml" Type="http://schemas.openxmlformats.org/officeDocument/2006/relationships/notesSlide"/><Relationship Id="rId44" Target="notesSlides/notesSlide6.xml" Type="http://schemas.openxmlformats.org/officeDocument/2006/relationships/notesSlide"/><Relationship Id="rId45" Target="notesSlides/notesSlide7.xml" Type="http://schemas.openxmlformats.org/officeDocument/2006/relationships/notesSlide"/><Relationship Id="rId46" Target="notesSlides/notesSlide8.xml" Type="http://schemas.openxmlformats.org/officeDocument/2006/relationships/notesSlide"/><Relationship Id="rId47" Target="notesSlides/notesSlide9.xml" Type="http://schemas.openxmlformats.org/officeDocument/2006/relationships/notesSlide"/><Relationship Id="rId48" Target="notesSlides/notesSlide10.xml" Type="http://schemas.openxmlformats.org/officeDocument/2006/relationships/notesSlide"/><Relationship Id="rId49" Target="notesSlides/notesSlide11.xml" Type="http://schemas.openxmlformats.org/officeDocument/2006/relationships/notesSlide"/><Relationship Id="rId50" Target="notesSlides/notesSlide12.xml" Type="http://schemas.openxmlformats.org/officeDocument/2006/relationships/notesSlide"/><Relationship Id="rId51" Target="notesSlides/notesSlide13.xml" Type="http://schemas.openxmlformats.org/officeDocument/2006/relationships/notesSlide"/><Relationship Id="rId52" Target="notesSlides/notesSlide14.xml" Type="http://schemas.openxmlformats.org/officeDocument/2006/relationships/notesSlide"/><Relationship Id="rId53" Target="notesSlides/notesSlide15.xml" Type="http://schemas.openxmlformats.org/officeDocument/2006/relationships/notesSlide"/><Relationship Id="rId54" Target="notesSlides/notesSlide16.xml" Type="http://schemas.openxmlformats.org/officeDocument/2006/relationships/notesSlide"/><Relationship Id="rId55" Target="notesSlides/notesSlide17.xml" Type="http://schemas.openxmlformats.org/officeDocument/2006/relationships/notesSlide"/><Relationship Id="rId56" Target="notesSlides/notesSlide18.xml" Type="http://schemas.openxmlformats.org/officeDocument/2006/relationships/notesSlide"/><Relationship Id="rId57" Target="notesSlides/notesSlide19.xml" Type="http://schemas.openxmlformats.org/officeDocument/2006/relationships/notesSlide"/><Relationship Id="rId58" Target="notesSlides/notesSlide20.xml" Type="http://schemas.openxmlformats.org/officeDocument/2006/relationships/notesSlide"/><Relationship Id="rId59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2.xml" Type="http://schemas.openxmlformats.org/officeDocument/2006/relationships/notesSlide"/><Relationship Id="rId61" Target="notesSlides/notesSlide23.xml" Type="http://schemas.openxmlformats.org/officeDocument/2006/relationships/notesSlide"/><Relationship Id="rId62" Target="notesSlides/notesSlide24.xml" Type="http://schemas.openxmlformats.org/officeDocument/2006/relationships/notesSlide"/><Relationship Id="rId63" Target="notesSlides/notesSlide25.xml" Type="http://schemas.openxmlformats.org/officeDocument/2006/relationships/notesSlide"/><Relationship Id="rId64" Target="notesSlides/notesSlide26.xml" Type="http://schemas.openxmlformats.org/officeDocument/2006/relationships/notesSlide"/><Relationship Id="rId65" Target="notesSlides/notesSlide27.xml" Type="http://schemas.openxmlformats.org/officeDocument/2006/relationships/notesSlide"/><Relationship Id="rId66" Target="notesSlides/notesSlide28.xml" Type="http://schemas.openxmlformats.org/officeDocument/2006/relationships/notesSlide"/><Relationship Id="rId67" Target="notesSlides/notesSlide29.xml" Type="http://schemas.openxmlformats.org/officeDocument/2006/relationships/notesSlide"/><Relationship Id="rId68" Target="notesSlides/notesSlide30.xml" Type="http://schemas.openxmlformats.org/officeDocument/2006/relationships/notesSlide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我们的Office办公软件入门教程。这份教程专为刚入职的新同事设计，旨在帮助大家快速掌握Word、Excel和PPT这三款核心办公软件的使用技巧。无论你之前是否接触过Office，通过这次学习，我们相信你都能轻松上手，成为办公小能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教程将分为三个部分，分别是Word、Excel和PPT。在Word部分，我们将学习从文档创建到打印的全过程；Excel部分，我们将重点掌握数据处理和分析的核心功能；PPT部分，则会带大家从零开始制作一份精美的演示文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学习Word的基础操作。创建和编辑文档是我们日常工作中最常遇到的任务。这一页我们展示了如何新建、打开和保存文档，以及最基本的文本输入和编辑技巧。请大家注意右侧的截图，熟悉一下Word的界面布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掌握了基本的编辑功能后，我们来学习如何让文档变得更美观。格式设置是Word的强大功能之一。通过设置字体和段落格式，我们可以突出重点内容，使文档层次分明。使用样式功能可以帮助我们快速统一整个文档的格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一个结构清晰的文档离不开良好的段落排版。这一页我们将学习如何调整段落间距，使用项目符号和编号来组织内容，以及如何设置首行缩进，让你的文档看起来更加专业和易读。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在文档中插入表格是整理和展示数据的有效方式。这一页我们将学习如何插入表格，以及表格的基本编辑技巧，如合并拆分单元格、调整大小和位置等。Word提供了丰富的表格样式，可以帮助我们快速美化表格。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一篇好的文档不仅要有丰富的文字内容，适当的图片和图形也能让它增色不少。这一页我们将学习如何在Word中插入图片，并通过设置环绕方式实现图文混排。此外，我们还会简单介绍如何插入形状和SmartArt图形。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页眉和页脚是文档的重要组成部分，通常用于显示文档标题、页码、作者信息等。这一页我们将学习如何插入和编辑页眉页脚，以及如何设置页码。掌握这些技巧，可以让你的文档更加规范和专业。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当我们完成文档的编辑后，常常需要将它打印出来。这一页我们将学习如何在Word中进行打印设置，包括选择打印机、设置纸张大小和方向、预览打印效果等。正确的打印设置可以帮助我们节省纸张和时间。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接下来，我们进入Excel的学习。Excel是一款强大的数据处理软件。首先，我们来了解一下Excel的基本操作，包括如何新建工作簿、重命名工作表，以及如何在单元格中输入数据和选择单元格区域。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公式和函数是Excel的核心功能，它们可以帮助我们快速完成复杂的计算。这一页我们将学习如何输入公式，以及几个最常用的函数，如SUM、AVERAGE、MAX、MIN和IF。如果你对函数不熟悉，可以使用函数向导来帮助你。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我们面对大量数据时，排序和筛选是非常实用的工具。通过排序，我们可以按照一定的顺序组织数据；通过筛选，我们可以快速找到符合特定条件的数据。这一页我们将学习如何在Excel中进行数据的排序和筛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图表是数据可视化的重要手段，它可以让复杂的数据变得更加直观易懂。这一页我们将学习如何在Excel中制作图表，包括选择图表类型、插入图表以及对图表进行基本的编辑。Excel提供了多种图表类型，我们可以根据数据的特点和展示需求进行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透视表是Excel中一个非常强大的数据分析工具，它可以帮助我们快速汇总和分析大量数据。这一页我们将学习如何创建数据透视表，以及如何通过添加行、列和值字段来组织和展示数据。数据透视表的灵活性使其成为数据分析的利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最后，我们来学习PPT的制作。PPT是我们进行演讲和汇报的重要工具。这一页我们将学习PPT的基础操作，包括如何新建演示文稿、选择幻灯片版式、添加和删除幻灯片，以及调整幻灯片的顺序。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母版设置是制作PPT的高级技巧，它可以帮助我们统一整个演示文稿的风格。通过修改母版，我们可以一次性设置所有幻灯片的背景、字体、Logo等元素，从而节省大量时间。这一页我们将学习如何进入母版视图并进行基本的母版设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动画效果可以让你的PPT更加生动有趣，吸引观众的注意力。这一页我们将学习如何为PPT中的对象添加动画效果，以及如何设置动画的类型、顺序和播放时间。合理使用动画，可以让你的演示更加精彩。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切换效果是指在幻灯片之间切换时的动画效果。一个好的切换效果可以让你的演示更加流畅自然。这一页我们将学习如何为幻灯片添加切换效果，以及如何设置切换效果的参数。同样，切换效果也不宜过多，以免喧宾夺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PPT中插入图片、音频和视频等多媒体元素，可以让你的演示更加丰富多彩。这一页我们将学习如何在PPT中插入图片、音频和视频文件。需要注意的是，插入的音频和视频文件最好与PPT文件保存在同一个文件夹中，以免丢失链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完成PPT的制作后，我们需要进行放映设置。这一页我们将学习如何设置放映方式，如演讲者放映或观众自行浏览；如何设置放映时间；以及如何使用排练计时功能来帮助我们更好地控制演讲节奏。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掌握了基本操作之后，我们来学习一些Word的实战技巧。这些技巧可以帮助我们大大提高工作效率。比如，如何快速选择文本，如何使用格式刷复制格式，如何使用查找和替换功能批量修改文本，以及一些常用的快捷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同样，Excel也有很多实用的技巧。这一页我们将介绍如何快速输入数据，如何使用条件格式来突出显示特定数据，如何冻结窗格以便于查看大量数据，以及如何保护工作表的安全性。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再来学习几个PPT的实战技巧。这些技巧可以帮助我们更好地管理和展示演示文稿。比如，如何快速复制幻灯片，如何为幻灯片添加编号，如何设置个性化的幻灯片背景，以及如何将演示文稿打包以便在其他设备上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在使用Word的过程中，我们可能会遇到一些常见的问题。这一页我们列举了三个最常见的问题及其解决方案，希望能帮助大家快速解决问题，提高工作效率。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同样，我们也为大家整理了Excel中几个常见问题的解决方案。如果你在使用Excel时遇到了公式错误、求和困难或想要隐藏行/列等问题，可以参考这里的解决方法。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最后，我们来看看PPT中可能遇到的一些问题。如果你在播放PPT时遇到困难，或者想要插入Flash动画、设置放映密码，可以参考这里的解决方案。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到这里，我们的Office教程就接近尾声了。在这次学习中，我们系统地学习了Word、Excel和PPT的核心功能和实用技巧。希望大家能够回顾并巩固所学知识，并在今后的工作中积极应用，真正做到学以致用。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非常感谢大家的观看！如果在学习过程中有任何疑问，或者在实际应用中遇到了问题，欢迎随时与我们交流。祝你工作顺利！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jpeg" Type="http://schemas.openxmlformats.org/officeDocument/2006/relationships/image"/><Relationship Id="rId13" Target="../notesSlides/notesSlide3.xml" Type="http://schemas.openxmlformats.org/officeDocument/2006/relationships/notesSlid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jpeg" Type="http://schemas.openxmlformats.org/officeDocument/2006/relationships/image"/><Relationship Id="rId9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jpe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8.jpeg" Type="http://schemas.openxmlformats.org/officeDocument/2006/relationships/image"/><Relationship Id="rId11" Target="../notesSlides/notesSlide6.xml" Type="http://schemas.openxmlformats.org/officeDocument/2006/relationships/notesSlid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5.jpeg" Type="http://schemas.openxmlformats.org/officeDocument/2006/relationships/image"/><Relationship Id="rId11" Target="../notesSlides/notesSlide7.xml" Type="http://schemas.openxmlformats.org/officeDocument/2006/relationships/notes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0.jpeg" Type="http://schemas.openxmlformats.org/officeDocument/2006/relationships/image"/><Relationship Id="rId11" Target="../notesSlides/notesSlide10.xml" Type="http://schemas.openxmlformats.org/officeDocument/2006/relationships/notesSlid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5.jpeg" Type="http://schemas.openxmlformats.org/officeDocument/2006/relationships/image"/><Relationship Id="rId11" Target="../notesSlides/notesSlide11.xml" Type="http://schemas.openxmlformats.org/officeDocument/2006/relationships/notesSlid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6.png" Type="http://schemas.openxmlformats.org/officeDocument/2006/relationships/image"/><Relationship Id="rId3" Target="../media/image67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72.jpe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jpeg" Type="http://schemas.openxmlformats.org/officeDocument/2006/relationships/image"/><Relationship Id="rId7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78.png" Type="http://schemas.openxmlformats.org/officeDocument/2006/relationships/image"/><Relationship Id="rId5" Target="../media/image79.sv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82.jpe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7.jpeg" Type="http://schemas.openxmlformats.org/officeDocument/2006/relationships/image"/><Relationship Id="rId11" Target="../notesSlides/notesSlide15.xml" Type="http://schemas.openxmlformats.org/officeDocument/2006/relationships/notesSlid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3.png" Type="http://schemas.openxmlformats.org/officeDocument/2006/relationships/image"/><Relationship Id="rId5" Target="../media/image84.svg" Type="http://schemas.openxmlformats.org/officeDocument/2006/relationships/image"/><Relationship Id="rId6" Target="../media/image85.png" Type="http://schemas.openxmlformats.org/officeDocument/2006/relationships/image"/><Relationship Id="rId7" Target="../media/image86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88.jpeg" Type="http://schemas.openxmlformats.org/officeDocument/2006/relationships/image"/><Relationship Id="rId9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9.png" Type="http://schemas.openxmlformats.org/officeDocument/2006/relationships/image"/><Relationship Id="rId3" Target="../media/image90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91.png" Type="http://schemas.openxmlformats.org/officeDocument/2006/relationships/image"/><Relationship Id="rId7" Target="../media/image92.svg" Type="http://schemas.openxmlformats.org/officeDocument/2006/relationships/image"/><Relationship Id="rId8" Target="../media/image93.jpeg" Type="http://schemas.openxmlformats.org/officeDocument/2006/relationships/image"/><Relationship Id="rId9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9.png" Type="http://schemas.openxmlformats.org/officeDocument/2006/relationships/image"/><Relationship Id="rId3" Target="../media/image90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94.png" Type="http://schemas.openxmlformats.org/officeDocument/2006/relationships/image"/><Relationship Id="rId7" Target="../media/image95.svg" Type="http://schemas.openxmlformats.org/officeDocument/2006/relationships/image"/><Relationship Id="rId8" Target="../media/image96.jpeg" Type="http://schemas.openxmlformats.org/officeDocument/2006/relationships/image"/><Relationship Id="rId9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3.jpeg" Type="http://schemas.openxmlformats.org/officeDocument/2006/relationships/image"/><Relationship Id="rId11" Target="../notesSlides/notesSlide19.xml" Type="http://schemas.openxmlformats.org/officeDocument/2006/relationships/notes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97.png" Type="http://schemas.openxmlformats.org/officeDocument/2006/relationships/image"/><Relationship Id="rId5" Target="../media/image98.svg" Type="http://schemas.openxmlformats.org/officeDocument/2006/relationships/image"/><Relationship Id="rId6" Target="../media/image99.png" Type="http://schemas.openxmlformats.org/officeDocument/2006/relationships/image"/><Relationship Id="rId7" Target="../media/image100.svg" Type="http://schemas.openxmlformats.org/officeDocument/2006/relationships/image"/><Relationship Id="rId8" Target="../media/image101.png" Type="http://schemas.openxmlformats.org/officeDocument/2006/relationships/image"/><Relationship Id="rId9" Target="../media/image10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5.png" Type="http://schemas.openxmlformats.org/officeDocument/2006/relationships/image"/><Relationship Id="rId3" Target="../media/image76.svg" Type="http://schemas.openxmlformats.org/officeDocument/2006/relationships/image"/><Relationship Id="rId4" Target="../media/image104.png" Type="http://schemas.openxmlformats.org/officeDocument/2006/relationships/image"/><Relationship Id="rId5" Target="../media/image105.svg" Type="http://schemas.openxmlformats.org/officeDocument/2006/relationships/image"/><Relationship Id="rId6" Target="../media/image106.png" Type="http://schemas.openxmlformats.org/officeDocument/2006/relationships/image"/><Relationship Id="rId7" Target="../media/image107.svg" Type="http://schemas.openxmlformats.org/officeDocument/2006/relationships/image"/><Relationship Id="rId8" Target="../media/image108.jpeg" Type="http://schemas.openxmlformats.org/officeDocument/2006/relationships/image"/><Relationship Id="rId9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2.svg" Type="http://schemas.openxmlformats.org/officeDocument/2006/relationships/image"/><Relationship Id="rId11" Target="../media/image63.png" Type="http://schemas.openxmlformats.org/officeDocument/2006/relationships/image"/><Relationship Id="rId12" Target="../media/image64.svg" Type="http://schemas.openxmlformats.org/officeDocument/2006/relationships/image"/><Relationship Id="rId13" Target="../notesSlides/notesSlide21.xml" Type="http://schemas.openxmlformats.org/officeDocument/2006/relationships/notesSlide"/><Relationship Id="rId2" Target="../media/image109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10.png" Type="http://schemas.openxmlformats.org/officeDocument/2006/relationships/image"/><Relationship Id="rId6" Target="../media/image111.sv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7.svg" Type="http://schemas.openxmlformats.org/officeDocument/2006/relationships/image"/><Relationship Id="rId11" Target="../media/image3.png" Type="http://schemas.openxmlformats.org/officeDocument/2006/relationships/image"/><Relationship Id="rId12" Target="../media/image4.svg" Type="http://schemas.openxmlformats.org/officeDocument/2006/relationships/image"/><Relationship Id="rId13" Target="../media/image118.png" Type="http://schemas.openxmlformats.org/officeDocument/2006/relationships/image"/><Relationship Id="rId14" Target="../media/image119.svg" Type="http://schemas.openxmlformats.org/officeDocument/2006/relationships/image"/><Relationship Id="rId15" Target="../notesSlides/notesSlide22.xml" Type="http://schemas.openxmlformats.org/officeDocument/2006/relationships/notesSlide"/><Relationship Id="rId2" Target="../media/image10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12.png" Type="http://schemas.openxmlformats.org/officeDocument/2006/relationships/image"/><Relationship Id="rId6" Target="../media/image113.svg" Type="http://schemas.openxmlformats.org/officeDocument/2006/relationships/image"/><Relationship Id="rId7" Target="../media/image114.png" Type="http://schemas.openxmlformats.org/officeDocument/2006/relationships/image"/><Relationship Id="rId8" Target="../media/image115.svg" Type="http://schemas.openxmlformats.org/officeDocument/2006/relationships/image"/><Relationship Id="rId9" Target="../media/image11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3.svg" Type="http://schemas.openxmlformats.org/officeDocument/2006/relationships/image"/><Relationship Id="rId11" Target="../notesSlides/notesSlide23.xml" Type="http://schemas.openxmlformats.org/officeDocument/2006/relationships/notesSlide"/><Relationship Id="rId2" Target="../media/image109.jpeg" Type="http://schemas.openxmlformats.org/officeDocument/2006/relationships/image"/><Relationship Id="rId3" Target="../media/image120.png" Type="http://schemas.openxmlformats.org/officeDocument/2006/relationships/image"/><Relationship Id="rId4" Target="../media/image121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112.png" Type="http://schemas.openxmlformats.org/officeDocument/2006/relationships/image"/><Relationship Id="rId8" Target="../media/image113.sv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4.jpe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4.jpe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4.jpe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5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126.png" Type="http://schemas.openxmlformats.org/officeDocument/2006/relationships/image"/><Relationship Id="rId6" Target="../media/image127.svg" Type="http://schemas.openxmlformats.org/officeDocument/2006/relationships/image"/><Relationship Id="rId7" Target="../media/image58.png" Type="http://schemas.openxmlformats.org/officeDocument/2006/relationships/image"/><Relationship Id="rId8" Target="../media/image59.svg" Type="http://schemas.openxmlformats.org/officeDocument/2006/relationships/image"/><Relationship Id="rId9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28.png" Type="http://schemas.openxmlformats.org/officeDocument/2006/relationships/image"/><Relationship Id="rId4" Target="../media/image129.svg" Type="http://schemas.openxmlformats.org/officeDocument/2006/relationships/image"/><Relationship Id="rId5" Target="../media/image130.png" Type="http://schemas.openxmlformats.org/officeDocument/2006/relationships/image"/><Relationship Id="rId6" Target="../media/image131.svg" Type="http://schemas.openxmlformats.org/officeDocument/2006/relationships/image"/><Relationship Id="rId7" Target="../media/image132.png" Type="http://schemas.openxmlformats.org/officeDocument/2006/relationships/image"/><Relationship Id="rId8" Target="../media/image133.svg" Type="http://schemas.openxmlformats.org/officeDocument/2006/relationships/image"/><Relationship Id="rId9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4.jpeg" Type="http://schemas.openxmlformats.org/officeDocument/2006/relationships/image"/><Relationship Id="rId3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4.jpeg" Type="http://schemas.openxmlformats.org/officeDocument/2006/relationships/image"/><Relationship Id="rId3" Target="../notesSlides/notesSlide30.xml" Type="http://schemas.openxmlformats.org/officeDocument/2006/relationships/notesSlide"/><Relationship Id="rId4" Target="../media/image1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Office办公软件入门教程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232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0078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55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一看就会的Word、Excel、PPT实战技巧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556000" y="5715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Your Company Name | 内部培训资料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508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35000" y="16510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Word模块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2222500"/>
            <a:ext cx="203200" cy="203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965200" y="22225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文档创建/编辑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2730500"/>
            <a:ext cx="203200" cy="203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965200" y="27305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格式设置与排版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3238500"/>
            <a:ext cx="203200" cy="203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965200" y="32385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表格制作与图文混排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3746500"/>
            <a:ext cx="203200" cy="203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65200" y="37465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页眉页脚与打印设置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382811" flipH="false" flipV="false">
            <a:off x="3111500" y="2914666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699000" y="16510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Excel模块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699000" y="2222500"/>
            <a:ext cx="203200" cy="203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029200" y="22225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表格创建与数据输入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699000" y="2730500"/>
            <a:ext cx="203200" cy="203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5029200" y="27305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公式与函数应用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699000" y="3238500"/>
            <a:ext cx="203200" cy="203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029200" y="32385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数据排序、筛选与图表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699000" y="3746500"/>
            <a:ext cx="203200" cy="2032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5029200" y="37465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基础数据透视表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5382811" flipH="false" flipV="false">
            <a:off x="7175500" y="2914666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8763000" y="16510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PPT模块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763000" y="2222500"/>
            <a:ext cx="203200" cy="2032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093200" y="22225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幻灯片创建与版式设计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763000" y="2730500"/>
            <a:ext cx="203200" cy="2032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9093200" y="27305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母版设置与统一风格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763000" y="3238500"/>
            <a:ext cx="203200" cy="2032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9093200" y="32385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动画与切换效果</a:t>
            </a:r>
            <a:endParaRPr lang="en-US" sz="1100"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763000" y="3746500"/>
            <a:ext cx="203200" cy="2032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9093200" y="37465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多媒体插入与放映设置</a:t>
            </a:r>
            <a:endParaRPr lang="en-US" sz="1100"/>
          </a:p>
        </p:txBody>
      </p:sp>
      <p:cxnSp>
        <p:nvCxnSpPr>
          <p:cNvPr name="Connector 35" id="35"/>
          <p:cNvCxnSpPr/>
          <p:nvPr/>
        </p:nvCxnSpPr>
        <p:spPr>
          <a:xfrm rot="-3997" flipH="false" flipV="false">
            <a:off x="635004" y="4819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635000" y="5207000"/>
            <a:ext cx="1092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Office办公软件核心技能培训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Word模块 - 文档创建与编辑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587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587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新建文档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19685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点击“文件”&gt;“新建”，选择“空白文档”。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2603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2603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打开文档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29845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点击“文件”&gt;“打开”，选择要打开的文件。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3619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3619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保存文档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0005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使用快捷键Ctrl+S或点击“保存”按钮。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" y="4635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143000" y="4635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输入与编辑文本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43000" y="50165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直接输入，使用键鼠进行选择、复制、粘贴。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35000" y="5651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143000" y="5651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撤销与重做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390035" flipH="false" flipV="false">
            <a:off x="3905250" y="3771909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rcRect l="0" r="0" t="10000" b="10000"/>
          <a:stretch>
            <a:fillRect/>
          </a:stretch>
        </p:blipFill>
        <p:spPr>
          <a:xfrm rot="0" flipH="false" flipV="false">
            <a:off x="6477000" y="1587500"/>
            <a:ext cx="5080000" cy="4064000"/>
          </a:xfrm>
          <a:prstGeom prst="roundRect">
            <a:avLst>
              <a:gd name="adj" fmla="val 250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254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20" id="20"/>
          <p:cNvSpPr/>
          <p:nvPr/>
        </p:nvSpPr>
        <p:spPr>
          <a:xfrm rot="0" flipH="false" flipV="false">
            <a:off x="6477000" y="57785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Word 软件界面示例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Word模块 - 格式设置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128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65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字体格式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032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在“开始”选项卡设置字体、字号、颜色、加粗、倾斜、下划线等。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3048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3048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段落格式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429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在“开始”选项卡设置对齐方式、缩进、行距等，优化段落布局。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445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4445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使用样式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826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应用预设样式快速统一文档格式，提升专业感和一致性。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910" flipH="false" flipV="false">
            <a:off x="4127500" y="3613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0" r="0" t="18253" b="18253"/>
          <a:stretch>
            <a:fillRect/>
          </a:stretch>
        </p:blipFill>
        <p:spPr>
          <a:xfrm rot="0" flipH="false" flipV="false">
            <a:off x="6477000" y="1651000"/>
            <a:ext cx="5245100" cy="3556000"/>
          </a:xfrm>
          <a:prstGeom prst="roundRect">
            <a:avLst>
              <a:gd name="adj" fmla="val 2857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63500" blurRad="2540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5334000"/>
            <a:ext cx="52451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Word 格式设置界面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Word模块 - 段落排版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63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676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段落间距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082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选中段落，右键选择“段落”，在“间距”选项卡中设置段前段后间距。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3048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3073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项目符号和编号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479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在“开始”选项卡的“段落”组中，点击“项目符号”或“编号”按钮。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445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4470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首行缩进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876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在“段落”对话框的“缩进”选项卡中，设置首行缩进的磅值。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910" flipH="false" flipV="false">
            <a:off x="4127500" y="3613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0" r="0" t="493" b="493"/>
          <a:stretch>
            <a:fillRect/>
          </a:stretch>
        </p:blipFill>
        <p:spPr>
          <a:xfrm rot="0" flipH="false" flipV="false">
            <a:off x="6350000" y="1955800"/>
            <a:ext cx="5207000" cy="2933700"/>
          </a:xfrm>
          <a:prstGeom prst="rect">
            <a:avLst/>
          </a:prstGeom>
          <a:noFill/>
          <a:ln w="12700" cmpd="sng" cap="flat">
            <a:solidFill>
              <a:srgbClr val="DDDDDD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350000" y="5016500"/>
            <a:ext cx="520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Word段落排版设置界面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Word模块 - 表格制作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587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587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插入表格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1968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点击“插入”&gt;“表格”，选择表格的行数和列数。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2794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2794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合并和拆分单元格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175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选中单元格，右键选择“合并单元格”或“拆分单元格”。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000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4000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调整表格大小和位置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381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拖动边框调整大小，拖动移动手柄改变位置。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" y="5207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143000" y="5207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设置表格样式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43000" y="5588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在“表格工具-设计”选项卡中选择预设样式。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90035" flipH="false" flipV="false">
            <a:off x="3905250" y="3771909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6477000" y="1905000"/>
            <a:ext cx="5080000" cy="3810000"/>
          </a:xfrm>
          <a:prstGeom prst="roundRect">
            <a:avLst>
              <a:gd name="adj" fmla="val 2666"/>
            </a:avLst>
          </a:prstGeom>
          <a:noFill/>
          <a:ln w="12700" cmpd="sng" cap="flat">
            <a:solidFill>
              <a:srgbClr val="DDDEDF">
                <a:alpha val="100000"/>
              </a:srgbClr>
            </a:solidFill>
            <a:prstDash val="solid"/>
            <a:round/>
          </a:ln>
          <a:effectLst>
            <a:outerShdw dir="2700000" dist="63500" blurRad="254000" algn="tl" rotWithShape="false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Word模块 - 图文混排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128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256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625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插入图片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19812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点击“插入”&gt;“图片”，选择要插入的图片文件。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26924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2692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调整大小和位置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048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拖动控制点调整大小，拖动图片改变位置。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37592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37592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设置环绕方式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1148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在“图片工具-格式”中选择“自动换行”进行设置。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" y="4826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143000" y="4826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插入形状和SmartArt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43000" y="51816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点击“插入”&gt;“形状”或“SmartArt”丰富文档。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89323" flipH="false" flipV="false">
            <a:off x="4051300" y="3663960"/>
            <a:ext cx="408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rcRect l="49" r="49" t="0" b="0"/>
          <a:stretch>
            <a:fillRect/>
          </a:stretch>
        </p:blipFill>
        <p:spPr>
          <a:xfrm rot="0" flipH="false" flipV="false">
            <a:off x="6477000" y="1625600"/>
            <a:ext cx="5080000" cy="3632200"/>
          </a:xfrm>
          <a:prstGeom prst="rect">
            <a:avLst/>
          </a:prstGeom>
          <a:noFill/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6477000" y="53848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Word图文混排界面示例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Word模块 - 页眉页脚设置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63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95400" y="1803400"/>
            <a:ext cx="990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插入页眉和页脚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95400" y="2286000"/>
            <a:ext cx="990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点击“插入”&gt;“页眉”或“页脚”，选择预设的页眉页脚样式，或编辑自定义的页眉页脚。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32258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95400" y="3251200"/>
            <a:ext cx="990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设置页码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95400" y="3733800"/>
            <a:ext cx="990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点击“插入”&gt;“页码”，选择页码的位置和格式。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6736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95400" y="4699000"/>
            <a:ext cx="990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在页眉页脚中插入图片和文字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95400" y="5181600"/>
            <a:ext cx="990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进入页眉页脚编辑模式后，可以像在文档正文中一样插入图片和文字。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Word模块 - 打印设置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95400" y="1828800"/>
            <a:ext cx="990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设置打印参数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95400" y="2235200"/>
            <a:ext cx="990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点击“文件”&gt;“打印”，在打印预览界面中，可以设置打印机、纸张大小、纸张方向、页边距、打印范围等参数。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3175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95400" y="3225800"/>
            <a:ext cx="990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预览打印效果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95400" y="3632200"/>
            <a:ext cx="990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在打印预览界面中，可以查看文档打印后的效果，确保格式、排版和内容符合预期。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572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95400" y="4622800"/>
            <a:ext cx="990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打印文档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95400" y="5029200"/>
            <a:ext cx="990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所有参数设置完成并确认预览无误后，点击“打印”按钮，即可开始打印文档。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889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Excel模块 - 表格创建与数据输入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63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65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新建工作簿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032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点击“文件”&gt;“新建”，选择“空白工作簿”。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2794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2794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重命名工作表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175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双击工作表标签，输入新的名称。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3937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3937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输入数据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318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点击单元格，直接输入文本、数字或日期。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" y="5080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143000" y="5080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选择单元格和区域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43000" y="5461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使用鼠标点击或拖动可以选择单个单元格或一个单元格区域。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89889" flipH="false" flipV="false">
            <a:off x="3937000" y="3803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6477000" y="2159000"/>
            <a:ext cx="5080000" cy="2857500"/>
          </a:xfrm>
          <a:prstGeom prst="roundRect">
            <a:avLst>
              <a:gd name="adj" fmla="val 3555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6477000" y="5207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Excel 操作界面展示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Excel模块 - 公式与函数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128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524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92200" y="1524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输入公式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92200" y="1905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在单元格中输入“=”，然后输入公式表达式，如“=A1+B1”。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2667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92200" y="2667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常用函数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92200" y="3098800"/>
            <a:ext cx="203200" cy="203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22400" y="30988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SUM：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求和，如“=SUM(A1:A10)”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92200" y="3556000"/>
            <a:ext cx="203200" cy="203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422400" y="35560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AVERAGE：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求平均值，如“=AVERAGE(A1:A10)”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92200" y="4013200"/>
            <a:ext cx="203200" cy="203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22400" y="40132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MAX / MIN：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求最大/小值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92200" y="4470400"/>
            <a:ext cx="203200" cy="203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422400" y="44704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IF：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条件判断，如“=IF(A1&gt;60,"及格","不及格")”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" y="49784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092200" y="4978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使用函数向导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92200" y="53594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点击“公式”&gt;“插入函数”，按提示设置参数。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5389889" flipH="false" flipV="false">
            <a:off x="3937000" y="3676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rcRect l="22260" r="22260" t="0" b="0"/>
          <a:stretch>
            <a:fillRect/>
          </a:stretch>
        </p:blipFill>
        <p:spPr>
          <a:xfrm rot="0" flipH="false" flipV="false">
            <a:off x="6477000" y="1778000"/>
            <a:ext cx="5080000" cy="3708400"/>
          </a:xfrm>
          <a:prstGeom prst="roundRect">
            <a:avLst>
              <a:gd name="adj" fmla="val 2739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63500" blurRad="254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22" id="22"/>
          <p:cNvSpPr/>
          <p:nvPr/>
        </p:nvSpPr>
        <p:spPr>
          <a:xfrm rot="0" flipH="false" flipV="false">
            <a:off x="6477000" y="56134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Excel公式与函数操作界面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Excel模块 - 数据排序与筛选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587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6002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数据排序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006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选中要排序的数据区域，点击“数据”&gt;“升序”或“降序”按钮。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29464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29591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数据筛选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365500"/>
            <a:ext cx="4826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选中数据区域，点击“数据”&gt;“筛选”按钮，在列标题旁会出现筛选箭头，点击箭头可以设置筛选条件。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5593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4572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清除排序和筛选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9784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点击“数据”&gt;“清除”按钮，可以清除之前设置的排序和筛选。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9422" flipH="false" flipV="false">
            <a:off x="4032250" y="364491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0" r="0" t="141" b="141"/>
          <a:stretch>
            <a:fillRect/>
          </a:stretch>
        </p:blipFill>
        <p:spPr>
          <a:xfrm rot="0" flipH="false" flipV="false">
            <a:off x="6477000" y="1587500"/>
            <a:ext cx="5080000" cy="3886200"/>
          </a:xfrm>
          <a:prstGeom prst="roundRect">
            <a:avLst>
              <a:gd name="adj" fmla="val 2614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63500" blurRad="254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5588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Excel排序与筛选操作界面展示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Excel模块 - 图表制作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93800" y="1676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选择图表类型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93800" y="2082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选中数据区域，点击“插入”&gt;“图表”，选择合适的图表类型，如柱状图、折线图等。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93800" y="3073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插入图表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93800" y="3479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选择图表类型后，Excel会根据您的数据自动生成一个默认样式的图表。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4445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93800" y="4470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编辑图表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93800" y="4876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使用“图表工具”编辑标题、坐标轴、数据标签等元素，美化图表。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88910" flipH="false" flipV="false">
            <a:off x="4127500" y="3613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rcRect l="0" r="0" t="300" b="300"/>
          <a:stretch>
            <a:fillRect/>
          </a:stretch>
        </p:blipFill>
        <p:spPr>
          <a:xfrm rot="0" flipH="false" flipV="false">
            <a:off x="6477000" y="1651000"/>
            <a:ext cx="5080000" cy="4394200"/>
          </a:xfrm>
          <a:prstGeom prst="rect">
            <a:avLst/>
          </a:prstGeom>
          <a:noFill/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Excel模块 - 基础数据透视表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6637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创建数据透视表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0701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选中数据区域，点击“插入”&gt;“数据透视表”，在弹出的对话框中设置数据透视表的位置。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3048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30607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添加字段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4671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在“数据透视表字段”窗格中，将字段拖放到“行”、“列”和“值”区域。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445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44577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筛选和排序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8641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可以通过数据透视表的筛选器和排序功能，对数据进行进一步的分析。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540" flipH="false" flipV="false">
            <a:off x="4191000" y="3549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99" r="99" t="0" b="0"/>
          <a:stretch>
            <a:fillRect/>
          </a:stretch>
        </p:blipFill>
        <p:spPr>
          <a:xfrm rot="0" flipH="false" flipV="false">
            <a:off x="6477000" y="1651000"/>
            <a:ext cx="5080000" cy="2044700"/>
          </a:xfrm>
          <a:prstGeom prst="roundRect">
            <a:avLst>
              <a:gd name="adj" fmla="val 4968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38735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Excel数据透视表界面展示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1092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PPT模块 - 幻灯片创建与版式设计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587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587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新建演示文稿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1968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点击“文件”&gt;“新建”，选择“空白演示文稿”。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2730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2730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选择幻灯片版式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111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在“开始”选项卡的“幻灯片”组中，点击“版式”进行选择。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3873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3873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添加和删除幻灯片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254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使用“开始”选项卡或右键菜单进行操作。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" y="5016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143000" y="5016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调整幻灯片顺序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43000" y="5397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在缩略图窗格中拖动幻灯片即可调整顺序。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89889" flipH="false" flipV="false">
            <a:off x="3937000" y="37401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rcRect l="99" r="99" t="0" b="0"/>
          <a:stretch>
            <a:fillRect/>
          </a:stretch>
        </p:blipFill>
        <p:spPr>
          <a:xfrm rot="0" flipH="false" flipV="false">
            <a:off x="6477000" y="1905000"/>
            <a:ext cx="5080000" cy="2857500"/>
          </a:xfrm>
          <a:prstGeom prst="roundRect">
            <a:avLst>
              <a:gd name="adj" fmla="val 355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254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6477000" y="48895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B9EA2"/>
                </a:solidFill>
                <a:latin typeface="Noto Sans SC"/>
                <a:ea typeface="Noto Sans SC"/>
                <a:cs typeface="Noto Sans SC"/>
                <a:sym typeface="Noto Sans SC"/>
              </a:rPr>
              <a:t>PPT软件界面示例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PPT模块 - 母版设置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65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进入母版视图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032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点击“视图”&gt;“幻灯片母版”，进入母版编辑界面。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2857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2857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修改母版样式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238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统一设置背景、字体、Logo等元素，修改将应用到所有幻灯片。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191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419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应用母版到幻灯片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572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完成修改后关闭母版视图，新样式将自动应用。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540" flipH="false" flipV="false">
            <a:off x="4191000" y="3422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0" r="0" t="135" b="135"/>
          <a:stretch>
            <a:fillRect/>
          </a:stretch>
        </p:blipFill>
        <p:spPr>
          <a:xfrm rot="0" flipH="false" flipV="false">
            <a:off x="6350000" y="1778000"/>
            <a:ext cx="5207000" cy="2921000"/>
          </a:xfrm>
          <a:prstGeom prst="rect">
            <a:avLst/>
          </a:prstGeom>
          <a:noFill/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350000" y="4826000"/>
            <a:ext cx="520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幻灯片母版设置界面示例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PPT模块 - 动画效果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63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65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添加动画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032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选中要添加动画的对象，点击“动画”&gt;“添加动画”，选择合适的动画效果。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29718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29718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设置动画效果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352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在“动画”选项卡中，可以设置动画的进入、强调、退出效果。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2926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4292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调整动画顺序和Timing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673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在“动画窗格”中，可以调整动画的播放顺序和开始时间。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145" flipH="false" flipV="false">
            <a:off x="4254500" y="3486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0" r="0" t="450" b="450"/>
          <a:stretch>
            <a:fillRect/>
          </a:stretch>
        </p:blipFill>
        <p:spPr>
          <a:xfrm rot="0" flipH="false" flipV="false">
            <a:off x="6477000" y="1905000"/>
            <a:ext cx="5080000" cy="2705100"/>
          </a:xfrm>
          <a:prstGeom prst="roundRect">
            <a:avLst>
              <a:gd name="adj" fmla="val 375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254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47371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PPT动画效果界面截图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PPT模块 - 切换效果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128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93800" y="1676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添加切换效果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93800" y="2082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选中幻灯片，点击“切换”&gt;“切换方案”，选择合适的切换效果。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30480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93800" y="3073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设置切换效果参数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93800" y="3479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在“切换”选项卡中，可以设置切换效果的持续时间和声音。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445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93800" y="4470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应用到全部幻灯片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93800" y="4876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点击“全部应用”按钮，可以将当前选择的切换效果应用到所有幻灯片。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910" flipH="false" flipV="false">
            <a:off x="4127500" y="3613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0" r="0" t="73" b="73"/>
          <a:stretch>
            <a:fillRect/>
          </a:stretch>
        </p:blipFill>
        <p:spPr>
          <a:xfrm rot="0" flipH="false" flipV="false">
            <a:off x="6350000" y="1778000"/>
            <a:ext cx="5207000" cy="3251200"/>
          </a:xfrm>
          <a:prstGeom prst="roundRect">
            <a:avLst>
              <a:gd name="adj" fmla="val 312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254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350000" y="5156200"/>
            <a:ext cx="520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PPT切换效果设置界面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PPT模块 - 多媒体插入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128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676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插入图片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0574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点击“插入”&gt;“图片”，选择要插入的图片文件。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2921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2946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插入音频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3274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点击“插入”&gt;“音频”&gt;“此设备上的音频”，选择要插入的音频文件。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191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4216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插入视频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5974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点击“插入”&gt;“视频”&gt;“此设备上的视频”，选择要插入的视频文件。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" y="5461000"/>
            <a:ext cx="203200" cy="203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39800" y="5461000"/>
            <a:ext cx="482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注意：建议将多媒体文件与PPT保存在同一文件夹。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389889" flipH="false" flipV="false">
            <a:off x="3937000" y="3676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6477000" y="1651000"/>
            <a:ext cx="5080000" cy="4064000"/>
          </a:xfrm>
          <a:prstGeom prst="roundRect">
            <a:avLst>
              <a:gd name="adj" fmla="val 250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63500" blurRad="254000" algn="tl" rotWithShape="false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PPT模块 - 放映设置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97" flipH="false" flipV="false">
            <a:off x="635004" y="12128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165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设置放映方式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082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点击“幻灯片放映”&gt;“设置幻灯片放映”，选择放映类型，如演讲者放映、观众自行浏览等。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3048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3048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设置放映时间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479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手动设置每张幻灯片的放映时间，或使用“排练计时”功能记录实际演讲时间。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445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4445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使用排练计时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876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点击“幻灯片放映”&gt;“排练计时”，进入排练模式，系统会自动记录每张幻灯片的播放时间。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910" flipH="false" flipV="false">
            <a:off x="4127500" y="3613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6477000" y="1905000"/>
            <a:ext cx="5080000" cy="3378200"/>
          </a:xfrm>
          <a:prstGeom prst="rect">
            <a:avLst/>
          </a:prstGeom>
          <a:noFill/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54102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PPT放映设置界面截图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508000"/>
            <a:ext cx="508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Word实战技巧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97" flipH="false" flipV="false">
            <a:off x="635004" y="1263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8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165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快速选择文本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2032000"/>
            <a:ext cx="4826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双击选中单词，三击选中段落，Ctrl+A选中全文。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" y="3048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43000" y="3048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使用格式刷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3429000"/>
            <a:ext cx="4826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选中已格式化文本，点击“格式刷”，再拖动选择目标文本即可复制格式。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83629" flipH="false" flipV="false">
            <a:off x="4762500" y="2978165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77000" y="1651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985000" y="165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查找和替换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985000" y="2032000"/>
            <a:ext cx="4826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Ctrl+F打开查找，Ctrl+H打开替换，高效批量修改文本。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048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85000" y="3048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常用快捷键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985000" y="34290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Ctrl+C: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复制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271000" y="34290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Ctrl+V: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粘贴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985000" y="38100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Ctrl+X: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剪切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271000" y="38100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Ctrl+B: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加粗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985000" y="41910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Ctrl+I: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倾斜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" y="4826000"/>
            <a:ext cx="10922000" cy="762000"/>
          </a:xfrm>
          <a:prstGeom prst="roundRect">
            <a:avLst>
              <a:gd name="adj" fmla="val 13333"/>
            </a:avLst>
          </a:prstGeom>
          <a:solidFill>
            <a:srgbClr val="0078D4">
              <a:alpha val="10000"/>
            </a:srgbClr>
          </a:solidFill>
          <a:ln w="12700" cmpd="sng" cap="flat">
            <a:solidFill>
              <a:srgbClr val="0078D4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89000" y="5080000"/>
            <a:ext cx="254000" cy="254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270000" y="5080000"/>
            <a:ext cx="990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掌握这些技巧，将极大提升您的文档处理效率，让工作事半功倍。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508000"/>
            <a:ext cx="635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Excel实战技巧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97" flipH="false" flipV="false">
            <a:off x="635004" y="12128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8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44600" y="16764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快速输入数据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44600" y="2133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选中单元格区域输入数据后按Ctrl+Enter；或拖动填充柄快速生成序列。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" y="3048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44600" y="30734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使用条件格式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44600" y="3530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通过“开始”选项卡设置，根据数据大小、范围等自动应用不同格式。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5000" y="44450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244600" y="44704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冻结窗格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44600" y="4927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在“视图”中选择冻结首行或首列，方便浏览大量数据时保持表头可见。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388540" flipH="false" flipV="false">
            <a:off x="4191000" y="3549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16510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213600" y="16764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保护工作表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13600" y="2133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通过“审阅”&gt;“保护工作表”设置密码，防止关键数据被意外修改。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04000" y="30480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213600" y="30734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数据验证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13600" y="3530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限制单元格输入内容的类型和范围，如日期、下拉列表，确保数据准确性。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04000" y="4445000"/>
            <a:ext cx="355600" cy="355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213600" y="44704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快速求和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213600" y="4927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选中数据区域下方的空白单元格，按Alt+=快捷键，一键完成求和计算。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PPT实战技巧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97" flipH="false" flipV="false">
            <a:off x="635004" y="1263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1778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95400" y="1828800"/>
            <a:ext cx="990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快速复制幻灯片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95400" y="2235200"/>
            <a:ext cx="990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选中要复制的幻灯片，按住Ctrl键，拖动幻灯片到目标位置。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" y="2921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95400" y="2971800"/>
            <a:ext cx="990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使用幻灯片编号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95400" y="3378200"/>
            <a:ext cx="990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点击“插入”&gt;“幻灯片编号”，可以为幻灯片添加页码。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5000" y="4064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295400" y="4114800"/>
            <a:ext cx="990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设置幻灯片背景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95400" y="4521200"/>
            <a:ext cx="990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右键单击幻灯片空白处，选择“设置背景格式”，可以设置纯色、渐变或图片背景。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35000" y="5207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295400" y="5257800"/>
            <a:ext cx="990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打包演示文稿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295400" y="5664200"/>
            <a:ext cx="990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点击“文件”&gt;“保存并发送”&gt;“将演示文稿打包成CD”，方便在其他电脑上播放。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508000"/>
            <a:ext cx="889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常见问题与解决方案 - Word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97" flipH="false" flipV="false">
            <a:off x="635004" y="1263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1651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Q1: 如何解决文档格式错乱的问题？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20828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A1: 可以尝试清除格式（Ctrl+Space），或者使用样式来统一格式。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29718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43000" y="29718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Q2: 如何在Word中插入页码？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3403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A2: 在“插入”选项卡中选择“页码”，然后选择页码的位置和格式。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42926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143000" y="42926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Q3: 如何设置文档的页边距？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43000" y="47244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A3: 在“布局”选项卡中选择“页边距”，可以选择预设的页边距样式，或自定义页边距。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50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常见问题与解决方案 - Excel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97" flipH="false" flipV="false">
            <a:off x="635004" y="1200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1587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15875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Q1: 如何解决公式计算错误的问题？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19685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A1: 检查公式中的单元格引用是否正确，或是否存在循环引用。可以使用“公式审核”工具来帮助诊断错误。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2857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43000" y="28575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Q2: 如何在Excel中快速求和？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32385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A2: 使用快捷键 Alt+=，或者在“公式”选项卡中选择“自动求和”功能。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4127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143000" y="41275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Q3: 如何隐藏Excel中的行或列？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43000" y="45085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A3: 右键单击需要隐藏的行号或列标，然后从弹出的菜单中选择“隐藏”选项。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3997" flipH="false" flipV="false">
            <a:off x="635004" y="5391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508000"/>
            <a:ext cx="762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常见问题与解决方案 - PPT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97" flipH="false" flipV="false">
            <a:off x="635004" y="12128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8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16764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Q1: 如何解决幻灯片无法播放的问题？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20828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A1: 检查文件格式是否正确，或者是否缺少必要的字体。可以尝试将PPT文件另存为PDF格式。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3048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43000" y="30734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Q2: 如何在PPT中插入Flash动画？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34798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A2: 在PowerPoint 2010及以后版本中，需要使用“开发工具”选项卡中的“其他控件”来插入Shockwave Flash Object。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4445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143000" y="44704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Q3: 如何设置PPT的放映密码？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43000" y="48768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A3: 在“文件”选项卡中选择“另存为”，在“工具”下拉菜单中选择“常规选项”，设置打开密码和修改密码。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508000"/>
            <a:ext cx="508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总结与回顾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97" flipH="false" flipV="false">
            <a:off x="635004" y="12128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" y="16256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1625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Word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2032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文档创建、编辑、格式设置、表格制作、图文混排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" y="29464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43000" y="29464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Excel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3352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数据输入、公式与函数、数据排序/筛选、图表制作、数据透视表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2672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PPT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43000" y="4673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幻灯片创建、版式设计、动画效果、切换效果、放映设置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5387895" flipH="false" flipV="false">
            <a:off x="4292600" y="3422661"/>
            <a:ext cx="360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16256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112000" y="1625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112000" y="2032000"/>
            <a:ext cx="4826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希望大家能够将所学知识运用到实际工作中，不断练习，提高自己的办公技能。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3997" flipH="false" flipV="false">
            <a:off x="635004" y="5581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35000" y="5842000"/>
            <a:ext cx="1092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持续学习，不断进步，让办公效率倍增！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22860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295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556000" y="4191000"/>
            <a:ext cx="1016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810000" y="4445000"/>
            <a:ext cx="508000" cy="508000"/>
          </a:xfrm>
          <a:prstGeom prst="rect">
            <a:avLst/>
          </a:prstGeom>
        </p:spPr>
      </p:pic>
      <p:cxnSp>
        <p:nvCxnSpPr>
          <p:cNvPr name="Connector 8" id="8"/>
          <p:cNvCxnSpPr/>
          <p:nvPr/>
        </p:nvCxnSpPr>
        <p:spPr>
          <a:xfrm rot="5342709" flipH="false" flipV="false">
            <a:off x="4699000" y="4692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461000" y="43815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842000" y="43815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联系我们: contact@example.com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461000" y="48895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842000" y="48895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联系电话: 400-123-4567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